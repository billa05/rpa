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6" r:id="rId11"/>
    <p:sldId id="278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4" r:id="rId20"/>
    <p:sldId id="276" r:id="rId21"/>
    <p:sldId id="277" r:id="rId22"/>
  </p:sldIdLst>
  <p:sldSz cx="12192000" cy="6858000"/>
  <p:notesSz cx="6858000" cy="9144000"/>
  <p:embeddedFontLst>
    <p:embeddedFont>
      <p:font typeface="Agnes" pitchFamily="50" charset="0"/>
      <p:regular r:id="rId24"/>
    </p:embeddedFont>
    <p:embeddedFont>
      <p:font typeface="Biome" panose="020B0503030204020804" pitchFamily="34" charset="0"/>
      <p:regular r:id="rId25"/>
    </p:embeddedFont>
    <p:embeddedFont>
      <p:font typeface="Brush Script MT" panose="03060802040406070304" pitchFamily="66" charset="0"/>
      <p:italic r:id="rId26"/>
    </p:embeddedFont>
    <p:embeddedFont>
      <p:font typeface="DM Sans" pitchFamily="2" charset="0"/>
      <p:regular r:id="rId27"/>
      <p:bold r:id="rId28"/>
      <p:italic r:id="rId29"/>
      <p:boldItalic r:id="rId30"/>
    </p:embeddedFont>
    <p:embeddedFont>
      <p:font typeface="DM Sans Light" panose="020B0604020202020204" charset="0"/>
      <p:regular r:id="rId31"/>
      <p:bold r:id="rId32"/>
      <p:italic r:id="rId33"/>
      <p:boldItalic r:id="rId34"/>
    </p:embeddedFont>
    <p:embeddedFont>
      <p:font typeface="Gigi" panose="04040504061007020D02" pitchFamily="82" charset="0"/>
      <p:regular r:id="rId35"/>
    </p:embeddedFont>
    <p:embeddedFont>
      <p:font typeface="Merriweather" panose="00000500000000000000" pitchFamily="2" charset="0"/>
      <p:regular r:id="rId36"/>
      <p:bold r:id="rId37"/>
      <p:italic r:id="rId38"/>
      <p:boldItalic r:id="rId39"/>
    </p:embeddedFont>
    <p:embeddedFont>
      <p:font typeface="Roslindale Text Semi Bold Itali" pitchFamily="50" charset="0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esearchgate.net/publication/395551667_Design_and_Evaluation_of_a_Hybrid_RPA-AI_Framework_for_Intelligent_Transcript_Processing_in_Higher_Education" TargetMode="External"/><Relationship Id="rId5" Type="http://schemas.openxmlformats.org/officeDocument/2006/relationships/hyperlink" Target="https://www.researchgate.net/publication/346968981_Muhammad_Zulfiqar_Mahmud_Widayat_Rahmad_Wijaya_2020_Causality_Model_of_Consumer_Purchase_Intention_on_Environmentally_Friendly_Packaging_Beverage_Products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762000" y="1711994"/>
            <a:ext cx="112014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accent6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Event &amp;</a:t>
            </a:r>
            <a:br>
              <a:rPr lang="en-US" sz="18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chemeClr val="accent6"/>
                </a:solidFill>
                <a:latin typeface="Merriweather"/>
                <a:ea typeface="Merriweather"/>
                <a:cs typeface="Merriweather"/>
                <a:sym typeface="Merriweather"/>
              </a:rPr>
              <a:t>Certificate Generation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61999" y="3535709"/>
            <a:ext cx="8505825" cy="55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921814"/>
            <a:ext cx="7620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bg1"/>
                </a:solidFill>
                <a:latin typeface="DM Sans Light"/>
                <a:ea typeface="DM Sans Light"/>
                <a:cs typeface="DM Sans Light"/>
                <a:sym typeface="DM Sans Light"/>
              </a:rPr>
              <a:t>Streamlining Educational Administration through Robotic Process Automation (RPA)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5372367"/>
            <a:ext cx="10668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/>
            <a:r>
              <a:rPr lang="en-US" sz="20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Biresh</a:t>
            </a:r>
            <a:r>
              <a:rPr lang="en-US" sz="20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Biswas 23BRS1255</a:t>
            </a:r>
          </a:p>
          <a:p>
            <a:pPr lvl="0" algn="r"/>
            <a:r>
              <a:rPr lang="en-US" sz="20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Preetham 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Pemmasani 23BRS1346, </a:t>
            </a:r>
          </a:p>
          <a:p>
            <a:pPr lvl="0" algn="r"/>
            <a:r>
              <a:rPr lang="en-US" sz="20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Tanmay 23BRS1222</a:t>
            </a:r>
            <a:endParaRPr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571500" y="1120378"/>
            <a:ext cx="52006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156668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The Administrative Burden:</a:t>
            </a:r>
            <a:r>
              <a:rPr lang="en-US" sz="1200" b="0" i="0" u="none" strike="noStrike" cap="none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Higher Education Institutions face massive overhead in managing workshops and events. Manual data entry for hundreds of participants is slow and inefficient.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383309"/>
            <a:ext cx="4953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Key Issues: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759857"/>
            <a:ext cx="4762500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High Error Rate:</a:t>
            </a:r>
            <a:r>
              <a:rPr lang="en-US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Manual typing leads to misspelled names on certificates, requiring re issuance.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Latency:</a:t>
            </a:r>
            <a:r>
              <a:rPr lang="en-US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Certificates are often issued weeks after an event, reducing attendee engagement.</a:t>
            </a:r>
            <a:endParaRPr lang="en-US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Lack of Scalability:</a:t>
            </a:r>
            <a:r>
              <a:rPr lang="en-US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Human staff cannot easily scale to handle 1000+ attendees instantly.</a:t>
            </a:r>
          </a:p>
          <a:p>
            <a:pPr marL="285750" lvl="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Verification</a:t>
            </a:r>
            <a:r>
              <a:rPr lang="en-US" dirty="0">
                <a:solidFill>
                  <a:schemeClr val="bg1"/>
                </a:solidFill>
              </a:rPr>
              <a:t>: No proper verification system</a:t>
            </a:r>
          </a:p>
          <a:p>
            <a:pPr marL="285750" lvl="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5509"/>
            <a:ext cx="5334000" cy="3884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35509"/>
            <a:ext cx="5334000" cy="388426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95350" y="2221259"/>
            <a:ext cx="496062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Efficiency Gains (Wijaya et al., 2020)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895350" y="2758380"/>
            <a:ext cx="472440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Research on student administration automation found that RPA can reduce data processing time by up to 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99.9%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Tasks that took 3 hours manually were completed in 15 minutes by a bot, highlighting the transformational potential of RPA in education.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dirty="0">
              <a:solidFill>
                <a:srgbClr val="334155"/>
              </a:solidFill>
              <a:latin typeface="DM Sans"/>
              <a:sym typeface="DM Sans"/>
            </a:endParaRPr>
          </a:p>
          <a:p>
            <a:pPr lvl="0">
              <a:lnSpc>
                <a:spcPct val="160000"/>
              </a:lnSpc>
            </a:pPr>
            <a:r>
              <a:rPr lang="en-IN" sz="1050" dirty="0">
                <a:hlinkClick r:id="rId5"/>
              </a:rPr>
              <a:t>https://www.researchgate.net/publication/346968981_Muhammad_Zulfiqar_Mahmud_Widayat_Rahmad_Wijaya_2020_Causality_Model_of_Consumer_Purchase_Intention_on_Environmentally_Friendly_Packaging_Beverage_Products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6610350" y="2221259"/>
            <a:ext cx="496062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Accuracy &amp; Fraud (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Mukit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et al., 2025)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6610350" y="2758380"/>
            <a:ext cx="4724400" cy="2806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Studies on transcript processing show that automation reduces error rates from 6% to under 1%. Furthermore, integrating RPA with verification standards addresses the growing concern of credential fraud in manual issuance processes.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dirty="0">
              <a:solidFill>
                <a:srgbClr val="334155"/>
              </a:solidFill>
              <a:latin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>
                <a:hlinkClick r:id="rId6"/>
              </a:rPr>
              <a:t>https://www.researchgate.net/publication/395551667_Design_and_Evaluation_of_a_Hybrid_RPA-AI_Framework_for_Intelligent_Transcript_Processing_in_Higher_Education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476250"/>
            <a:ext cx="11620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Roslindale Text Semi Bold Itali" pitchFamily="50" charset="0"/>
                <a:ea typeface="Merriweather"/>
                <a:cs typeface="Merriweather"/>
                <a:sym typeface="Merriweather"/>
              </a:rPr>
              <a:t>Literature Review: State of the Art</a:t>
            </a:r>
            <a:endParaRPr dirty="0">
              <a:latin typeface="Roslindale Text Semi Bold Itali" pitchFamily="50" charset="0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0" y="0"/>
            <a:ext cx="95250" cy="9791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8489"/>
            <a:ext cx="3492549" cy="3249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98489"/>
            <a:ext cx="3492549" cy="3249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98489"/>
            <a:ext cx="3492549" cy="324951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94225" y="3293864"/>
            <a:ext cx="30470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Event Management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66775" y="3781425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Current literature focuses on scheduling and reminders. Tools like Zapier and UiPath are used to trigger emails based on registration data.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572524" y="3293864"/>
            <a:ext cx="30470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Certificate Generation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45074" y="3781425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Existing research highlights "Mail Merge" style automation. The focus is shifting towards "Verifiable Credentials" using QR codes.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8350824" y="3293864"/>
            <a:ext cx="30470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Research Gap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23374" y="3781425"/>
            <a:ext cx="2901999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End-to-End Integration: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Few studies address a unified workflow that connects pre-event scheduling directly to post-event issuance without human intervention.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1012" y="259853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83799" y="259853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476250"/>
            <a:ext cx="11620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Gigi" panose="04040504061007020D02" pitchFamily="82" charset="0"/>
                <a:ea typeface="Merriweather"/>
                <a:cs typeface="Merriweather"/>
                <a:sym typeface="Merriweather"/>
              </a:rPr>
              <a:t>Key Research Themes &amp; Gaps</a:t>
            </a:r>
            <a:endParaRPr dirty="0">
              <a:latin typeface="Gigi" panose="04040504061007020D02" pitchFamily="82" charset="0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0" y="0"/>
            <a:ext cx="95250" cy="9791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9;p18" descr="image.png">
            <a:extLst>
              <a:ext uri="{FF2B5EF4-FFF2-40B4-BE49-F238E27FC236}">
                <a16:creationId xmlns:a16="http://schemas.microsoft.com/office/drawing/2014/main" id="{9430E1AE-77F2-DFD5-572D-43BBA6D6C25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95987" y="2789039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1824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1774775"/>
            <a:ext cx="5550693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"Read-Process-Write" Cycle</a:t>
            </a:r>
            <a:endParaRPr sz="1600"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2174230"/>
            <a:ext cx="52863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Our approach follows a standard RPA lifecycle designed for reliability and scalability.</a:t>
            </a:r>
            <a:endParaRPr sz="1600" dirty="0"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52891" y="2108745"/>
            <a:ext cx="2648694" cy="3428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2852291"/>
            <a:ext cx="5000625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600" b="1" dirty="0"/>
              <a:t>Step 1: Input Analysis </a:t>
            </a:r>
            <a:r>
              <a:rPr lang="en-IN" sz="1600" dirty="0"/>
              <a:t>– Structured data extraction from Excel / registration forms / check-in logs </a:t>
            </a:r>
          </a:p>
          <a:p>
            <a:r>
              <a:rPr lang="en-IN" sz="1600" b="1" dirty="0"/>
              <a:t>Step 2: Attendance Validation </a:t>
            </a:r>
            <a:r>
              <a:rPr lang="en-IN" sz="1600" dirty="0"/>
              <a:t>– Check eligibility rules (duration, check-in, exclusions) and filter valid participants </a:t>
            </a:r>
          </a:p>
          <a:p>
            <a:r>
              <a:rPr lang="en-IN" sz="1600" b="1" dirty="0"/>
              <a:t>Step 3: Certificate Generation </a:t>
            </a:r>
            <a:r>
              <a:rPr lang="en-IN" sz="1600" dirty="0"/>
              <a:t>– Populate template with name, date, unique ID + embed QR code (with optional blockchain hash) </a:t>
            </a:r>
          </a:p>
          <a:p>
            <a:r>
              <a:rPr lang="en-IN" sz="1600" b="1" dirty="0"/>
              <a:t>Step 4: PDF Conversion </a:t>
            </a:r>
            <a:r>
              <a:rPr lang="en-IN" sz="1600" dirty="0"/>
              <a:t>– Render final certificate design into a downloadable PDF file</a:t>
            </a:r>
          </a:p>
          <a:p>
            <a:r>
              <a:rPr lang="en-IN" sz="1600" b="1" dirty="0"/>
              <a:t>Step 5: Email Dispatch </a:t>
            </a:r>
            <a:r>
              <a:rPr lang="en-IN" sz="1600" dirty="0"/>
              <a:t>– Send personalized PDF certificate to participant email + log delivery status</a:t>
            </a:r>
            <a:endParaRPr lang="en-IN" sz="1600" dirty="0">
              <a:effectLst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476250"/>
            <a:ext cx="11620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Brush Script MT" panose="03060802040406070304" pitchFamily="66" charset="0"/>
                <a:ea typeface="Merriweather"/>
                <a:cs typeface="Merriweather"/>
                <a:sym typeface="Merriweather"/>
              </a:rPr>
              <a:t>Proposed Methodology</a:t>
            </a:r>
            <a:endParaRPr dirty="0">
              <a:latin typeface="Brush Script MT" panose="03060802040406070304" pitchFamily="66" charset="0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0" y="0"/>
            <a:ext cx="95250" cy="9791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700" y="1612898"/>
            <a:ext cx="4933950" cy="174411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286500" y="1514623"/>
            <a:ext cx="56007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Core Logic: UiPath Studio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6286500" y="2051744"/>
            <a:ext cx="53340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The primary development environment. Used for its robust selector capabilities with desktop applications and ease of use in academic settings.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286500" y="3331815"/>
            <a:ext cx="56007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Data Layer: Microsoft Excel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6286500" y="3868935"/>
            <a:ext cx="5334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Acts as the database. Stores attendee details, registration status, and certificate issuance logs (Success/Fail).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6286500" y="4874716"/>
            <a:ext cx="56007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Template Engine: Adobe Photoshop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6286500" y="5411837"/>
            <a:ext cx="5334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Used for designing the certificate. The bot utilizes "Find and Replace" activities to inject dynamic user data.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57177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38896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931866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476250"/>
            <a:ext cx="11620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Agnes" pitchFamily="50" charset="0"/>
                <a:ea typeface="Merriweather"/>
                <a:cs typeface="Merriweather"/>
                <a:sym typeface="Merriweather"/>
              </a:rPr>
              <a:t>Technology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 Stack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0" y="0"/>
            <a:ext cx="95250" cy="9791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604ADB-D2FD-2712-E1C4-5783CD0DB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3760272"/>
            <a:ext cx="2196379" cy="214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A790A03-AD1E-A6B5-6A8A-0E4900077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185" y="3828732"/>
            <a:ext cx="2225966" cy="207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/>
        </p:nvSpPr>
        <p:spPr>
          <a:xfrm>
            <a:off x="571500" y="1535608"/>
            <a:ext cx="52006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accent6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2571898"/>
            <a:ext cx="49530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The system is architected as two decoupled automation sequences sharing a common data source.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3554759"/>
            <a:ext cx="4953000" cy="69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1. The Scheduler Bot:</a:t>
            </a:r>
            <a:br>
              <a:rPr lang="en-US" sz="20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Reads new rows from Excel &gt; Interacts with Google Calendar &gt; Sends Invites.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4438501"/>
            <a:ext cx="4953000" cy="92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2. The Certifier Bot:</a:t>
            </a:r>
            <a:br>
              <a:rPr lang="en-US" sz="20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Triggered post-event &gt; Validates attendance &gt; Populates Photoshop Template &gt; Create QR Code &gt; Converts to PDF &gt; Dispatches Email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A0F4E4-8120-351A-31A2-7831D7BBE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201" y="0"/>
            <a:ext cx="33030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/>
          <p:nvPr/>
        </p:nvSpPr>
        <p:spPr>
          <a:xfrm>
            <a:off x="571500" y="334610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624905" y="320322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10733" y="3717577"/>
            <a:ext cx="25521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Data Entry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4174777"/>
            <a:ext cx="243066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User registers. Data is logged in Master_Sheet.xlsx.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497585" y="320322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383413" y="3717577"/>
            <a:ext cx="25521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Scheduling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444180" y="4174777"/>
            <a:ext cx="243066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Bot A reads data, sends Google Calendar invite.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7370266" y="320322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256094" y="3717577"/>
            <a:ext cx="25521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Validation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316860" y="4174777"/>
            <a:ext cx="243066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Event occurs. Attendance column updated to "Present".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0242946" y="320322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9128774" y="3717577"/>
            <a:ext cx="25521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Generation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9189541" y="4174777"/>
            <a:ext cx="243066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Photoshop generates PDF &amp; QR and emails it to "Present" users.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476250"/>
            <a:ext cx="11620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Data Flow Execution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0" y="0"/>
            <a:ext cx="95250" cy="9791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27523-C379-29AA-A81D-232D779DF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46472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ISSUES vs Solutions</a:t>
            </a:r>
            <a:endParaRPr lang="en-IN" dirty="0">
              <a:solidFill>
                <a:schemeClr val="bg1"/>
              </a:solidFill>
              <a:latin typeface="Biome" panose="020B0502040204020203" pitchFamily="34" charset="0"/>
              <a:cs typeface="Biome" panose="020B0502040204020203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15A46D-C2AA-DBBD-520A-41E24287C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257136"/>
              </p:ext>
            </p:extLst>
          </p:nvPr>
        </p:nvGraphicFramePr>
        <p:xfrm>
          <a:off x="1050585" y="1702639"/>
          <a:ext cx="10090830" cy="458699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363610">
                  <a:extLst>
                    <a:ext uri="{9D8B030D-6E8A-4147-A177-3AD203B41FA5}">
                      <a16:colId xmlns:a16="http://schemas.microsoft.com/office/drawing/2014/main" val="1225034225"/>
                    </a:ext>
                  </a:extLst>
                </a:gridCol>
                <a:gridCol w="3363610">
                  <a:extLst>
                    <a:ext uri="{9D8B030D-6E8A-4147-A177-3AD203B41FA5}">
                      <a16:colId xmlns:a16="http://schemas.microsoft.com/office/drawing/2014/main" val="379474311"/>
                    </a:ext>
                  </a:extLst>
                </a:gridCol>
                <a:gridCol w="3363610">
                  <a:extLst>
                    <a:ext uri="{9D8B030D-6E8A-4147-A177-3AD203B41FA5}">
                      <a16:colId xmlns:a16="http://schemas.microsoft.com/office/drawing/2014/main" val="1998486901"/>
                    </a:ext>
                  </a:extLst>
                </a:gridCol>
              </a:tblGrid>
              <a:tr h="239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Issue</a:t>
                      </a:r>
                      <a:endParaRPr lang="en-IN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Technical Symptom</a:t>
                      </a:r>
                      <a:endParaRPr lang="en-IN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Proposed Solution</a:t>
                      </a:r>
                      <a:endParaRPr lang="en-IN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878613656"/>
                  </a:ext>
                </a:extLst>
              </a:tr>
              <a:tr h="74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“Long Name” Overflow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Text bleeds into borders or overlaps the </a:t>
                      </a:r>
                      <a:r>
                        <a:rPr lang="en-US" sz="1400" b="1"/>
                        <a:t>Awarded To</a:t>
                      </a:r>
                      <a:r>
                        <a:rPr lang="en-US" sz="1400"/>
                        <a:t> label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Dynamic Font Scaling</a:t>
                      </a:r>
                      <a:r>
                        <a:rPr lang="en-US" sz="1400"/>
                        <a:t>: Set a character threshold (e.g., &gt;20). If exceeded, auto-reduce font size by ~20%.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657555015"/>
                  </a:ext>
                </a:extLst>
              </a:tr>
              <a:tr h="909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“Double Line” Shift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Two-line names push </a:t>
                      </a:r>
                      <a:r>
                        <a:rPr lang="en-US" sz="1400" b="1" dirty="0"/>
                        <a:t>Date</a:t>
                      </a:r>
                      <a:r>
                        <a:rPr lang="en-US" sz="1400" dirty="0"/>
                        <a:t> and </a:t>
                      </a:r>
                      <a:r>
                        <a:rPr lang="en-US" sz="1400" b="1" dirty="0"/>
                        <a:t>Signature</a:t>
                      </a:r>
                      <a:r>
                        <a:rPr lang="en-US" sz="1400" dirty="0"/>
                        <a:t> off the page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Fixed Anchors</a:t>
                      </a:r>
                      <a:r>
                        <a:rPr lang="en-US" sz="1400" dirty="0"/>
                        <a:t>: Lock all static text using absolute (X, Y) coordinates so only the name expands into available white space.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82249812"/>
                  </a:ext>
                </a:extLst>
              </a:tr>
              <a:tr h="74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Emoji / Special Characters</a:t>
                      </a:r>
                      <a:endParaRPr lang="en-IN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Accents (á, ö, ñ) or non-Latin scripts render as ? or □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Unicode-Ready Fonts</a:t>
                      </a:r>
                      <a:r>
                        <a:rPr lang="en-US" sz="1400"/>
                        <a:t>: Use global UTF-8 fonts like Noto Sans that fully support multilingual glyphs.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891839633"/>
                  </a:ext>
                </a:extLst>
              </a:tr>
              <a:tr h="74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Case Inconsistency</a:t>
                      </a:r>
                      <a:endParaRPr lang="en-IN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Names arrive as JOHN SMITH or john smith, hurting visual polish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String Normalization</a:t>
                      </a:r>
                      <a:r>
                        <a:rPr lang="en-US" sz="1400" dirty="0"/>
                        <a:t>: Apply </a:t>
                      </a:r>
                      <a:r>
                        <a:rPr lang="en-US" sz="1400" dirty="0" err="1"/>
                        <a:t>TitleCase</a:t>
                      </a:r>
                      <a:r>
                        <a:rPr lang="en-US" sz="1400" dirty="0"/>
                        <a:t> / </a:t>
                      </a:r>
                      <a:r>
                        <a:rPr lang="en-US" sz="1400" dirty="0" err="1"/>
                        <a:t>ProperCase</a:t>
                      </a:r>
                      <a:r>
                        <a:rPr lang="en-US" sz="1400" dirty="0"/>
                        <a:t> in UiPath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248470248"/>
                  </a:ext>
                </a:extLst>
              </a:tr>
              <a:tr h="57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Pixelated Assets</a:t>
                      </a:r>
                      <a:endParaRPr lang="en-IN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Logos and seals look blurry after PDF export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Vector Injection</a:t>
                      </a:r>
                      <a:r>
                        <a:rPr lang="en-US" sz="1400"/>
                        <a:t>: Replace raster images with .SVG or vector .PDF assets.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015687517"/>
                  </a:ext>
                </a:extLst>
              </a:tr>
              <a:tr h="57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Bulk Email Blocking</a:t>
                      </a:r>
                      <a:endParaRPr lang="en-IN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Sending ~1,000 PDFs trips spam or rate-limit filters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Staggered Delivery</a:t>
                      </a:r>
                      <a:r>
                        <a:rPr lang="en-US" sz="1400" dirty="0"/>
                        <a:t>: Add a 2–5 s delay between emails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743913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10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1824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571500" y="1902767"/>
            <a:ext cx="5550693" cy="285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Summary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571500" y="2340322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project demonstrates that RPA can transform educational administration from a bottleneck into a seamless experience.</a:t>
            </a:r>
            <a:endParaRPr dirty="0"/>
          </a:p>
        </p:txBody>
      </p:sp>
      <p:sp>
        <p:nvSpPr>
          <p:cNvPr id="234" name="Google Shape;234;p23"/>
          <p:cNvSpPr txBox="1"/>
          <p:nvPr/>
        </p:nvSpPr>
        <p:spPr>
          <a:xfrm>
            <a:off x="571500" y="4666208"/>
            <a:ext cx="5550693" cy="285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Scope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5103762"/>
            <a:ext cx="528637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Integration with 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Blockchain QR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immutable, verifiable credentials and switching from Excel to a cloud 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SQL Database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enterprise scalability.</a:t>
            </a:r>
            <a:endParaRPr dirty="0"/>
          </a:p>
        </p:txBody>
      </p:sp>
      <p:pic>
        <p:nvPicPr>
          <p:cNvPr id="236" name="Google Shape;23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4625" y="2185541"/>
            <a:ext cx="4905375" cy="327540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857250" y="3018383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Zero Errors: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Automated data scraping ensures </a:t>
            </a:r>
            <a:r>
              <a:rPr lang="en-US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99.99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% accuracy in names.</a:t>
            </a:r>
            <a:endParaRPr dirty="0"/>
          </a:p>
        </p:txBody>
      </p:sp>
      <p:sp>
        <p:nvSpPr>
          <p:cNvPr id="238" name="Google Shape;238;p23"/>
          <p:cNvSpPr txBox="1"/>
          <p:nvPr/>
        </p:nvSpPr>
        <p:spPr>
          <a:xfrm>
            <a:off x="857250" y="3770858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Instant Gratification: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Certificates can be received via email minutes after the event ends.</a:t>
            </a:r>
            <a:endParaRPr dirty="0"/>
          </a:p>
        </p:txBody>
      </p:sp>
      <p:sp>
        <p:nvSpPr>
          <p:cNvPr id="239" name="Google Shape;239;p23"/>
          <p:cNvSpPr txBox="1"/>
          <p:nvPr/>
        </p:nvSpPr>
        <p:spPr>
          <a:xfrm>
            <a:off x="571500" y="476250"/>
            <a:ext cx="1162050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&amp; Future Scope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0" y="0"/>
            <a:ext cx="95250" cy="9791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18383"/>
            <a:ext cx="190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70858"/>
            <a:ext cx="1905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2CC1A-2525-E25B-5151-7DB1CE34AC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CODE AND OUTPUT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3F5B6-81C6-8176-FB47-7BCF10A201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3464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A837-C013-4A73-35AC-DA19246EA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A5C71-7753-6D58-BA4B-DC3DAA25D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C5360-2DFB-DF4A-649B-1544C3A00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0"/>
            <a:ext cx="11472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37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70E8-AA6E-026F-0D20-90E2048D1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05E7-D078-341F-0374-C8B237A58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45109-CC0B-58F9-CF99-6BFA51C4C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992"/>
            <a:ext cx="12192000" cy="653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88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4C5A9-FE7B-A9C0-3DCA-D2686425F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BBEB3-AE7F-96E7-3042-1C5B395956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340BF-AC1C-D575-823B-C0F5BB003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443"/>
            <a:ext cx="12192000" cy="655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76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B034-5558-FD02-E063-3EB222DA3F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E3D67-8E51-F95D-94B7-E5F43976F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63BDAE-5C5D-0818-A0BD-A9171D75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6232"/>
            <a:ext cx="3060766" cy="4305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58A36-637C-F53E-1BE4-3E60E8A4D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767" y="218627"/>
            <a:ext cx="3161198" cy="42527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51E845-DB37-6302-5731-97E9E16F8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2990483" cy="4471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EFCBD8-E377-FDF6-5A39-75D997D2C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1716" y="0"/>
            <a:ext cx="3360283" cy="447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80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774E-4F92-5C92-E054-BD5328C274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1135D-9DC7-43FE-B7CD-8603AE304A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448AD-BF1B-A138-145C-01D520EA8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49325" cy="3810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197855-86C0-621A-0AFC-6BB9280F8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325" y="7538"/>
            <a:ext cx="4553585" cy="2857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70F8E7-F8B3-D2C2-4DE2-A3F56842F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5" y="3865626"/>
            <a:ext cx="4077269" cy="24482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4AD477-B118-ACF6-4FE6-4BB0A2EFA3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2736474"/>
            <a:ext cx="7130622" cy="42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025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EC27-6F9D-BE52-44B5-16B8C15FE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9C047-8CA4-E11F-5DBD-E1857D92AE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5A885-CB35-042D-146F-40F6360E2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0245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999111-D358-03C7-FBF0-10CC65DE5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176" y="0"/>
            <a:ext cx="5449824" cy="2747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C14700-ED50-D894-EC23-84B0B43E1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639" y="2809788"/>
            <a:ext cx="3715268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02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0DB5-493A-A995-D2AF-BB85DF63A0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429EE-563C-3957-8BBF-4009057B49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9601F-4965-A310-9086-12755D568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810"/>
            <a:ext cx="4944165" cy="6468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534881-584F-FCD1-CCC0-F877A668A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062" y="104310"/>
            <a:ext cx="5068007" cy="6649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E7BE2F-8779-378F-9706-34B6E0EAB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5427" y="752100"/>
            <a:ext cx="3934374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12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38E9B-42F4-BC0C-04E2-7123B2ED37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CBAB3-006D-902E-9002-0024D6872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E034B-051B-D354-7181-CFE99260A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01058" cy="4591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BCC938-43BF-353E-9E8D-C163D7397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225" y="-225199"/>
            <a:ext cx="7240010" cy="5344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9683A-A960-127B-BE48-A267A1EE8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0574" y="3363046"/>
            <a:ext cx="5344271" cy="34485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5DD182-287A-9A33-BA41-9EB9F40CB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12" y="4462275"/>
            <a:ext cx="5001323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40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F9F2-A43B-97C4-1D7B-20F0E864B4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CC36D1-902D-DBF1-2157-09CB3D054E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78F6B-A0BF-65E4-C5F2-F1FF143F7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06748" cy="60777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9BD932-1B28-1389-8D8D-53F37554B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2001777"/>
            <a:ext cx="5447979" cy="483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23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B5EA-F582-1FF9-B834-E0B68FEDE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AED7E-C2E7-9D7D-0297-6DEC6CCAB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BE4E9-F98C-2656-D292-74B4E0798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9853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563FCA-A407-D367-FAAA-24F1DDAF2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533" y="0"/>
            <a:ext cx="7144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974</Words>
  <Application>Microsoft Office PowerPoint</Application>
  <PresentationFormat>Widescreen</PresentationFormat>
  <Paragraphs>86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Merriweather</vt:lpstr>
      <vt:lpstr>Biome</vt:lpstr>
      <vt:lpstr>Calibri</vt:lpstr>
      <vt:lpstr>Arial</vt:lpstr>
      <vt:lpstr>Brush Script MT</vt:lpstr>
      <vt:lpstr>DM Sans Light</vt:lpstr>
      <vt:lpstr>Roslindale Text Semi Bold Itali</vt:lpstr>
      <vt:lpstr>Agnes</vt:lpstr>
      <vt:lpstr>Gigi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ISSUES vs Solutions</vt:lpstr>
      <vt:lpstr>PowerPoint Presentation</vt:lpstr>
      <vt:lpstr>CODE AND 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Preetham P</dc:creator>
  <cp:lastModifiedBy>Preetham Pemmasani</cp:lastModifiedBy>
  <cp:revision>26</cp:revision>
  <dcterms:modified xsi:type="dcterms:W3CDTF">2026-04-16T19:25:44Z</dcterms:modified>
</cp:coreProperties>
</file>